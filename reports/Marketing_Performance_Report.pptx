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Hulken Marketing Performance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February 2026</a:t>
            </a:r>
          </a:p>
          <a:p/>
          <a:p>
            <a:r>
              <a:t>Generated with BigQuery + Python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4285F4"/>
                </a:solidFill>
              </a:defRPr>
            </a:pPr>
            <a:r>
              <a:t>Section 1: Total Business Performance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285F4"/>
                </a:solidFill>
              </a:defRPr>
            </a:pPr>
            <a:r>
              <a:t>Executive Summary - Key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645920"/>
            <a:ext cx="2011680" cy="1371600"/>
          </a:xfrm>
          <a:prstGeom prst="rect">
            <a:avLst/>
          </a:prstGeom>
          <a:solidFill>
            <a:srgbClr val="F1F3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tIns="127000"/>
          <a:lstStyle/>
          <a:p>
            <a:pPr algn="ctr">
              <a:defRPr sz="1200">
                <a:solidFill>
                  <a:srgbClr val="3C4043"/>
                </a:solidFill>
              </a:defRPr>
            </a:pPr>
            <a:r>
              <a:t>Gross Revenue</a:t>
            </a:r>
          </a:p>
          <a:p>
            <a:pPr>
              <a:defRPr sz="2400" b="1">
                <a:solidFill>
                  <a:srgbClr val="4285F4"/>
                </a:solidFill>
              </a:defRPr>
            </a:pPr>
            <a:r>
              <a:t>$3.05M</a:t>
            </a:r>
          </a:p>
          <a:p>
            <a:pPr>
              <a:defRPr sz="1400">
                <a:solidFill>
                  <a:srgbClr val="34A853"/>
                </a:solidFill>
              </a:defRPr>
            </a:pPr>
            <a:r>
              <a:t>↑ +15.2%</a:t>
            </a:r>
          </a:p>
        </p:txBody>
      </p:sp>
      <p:sp>
        <p:nvSpPr>
          <p:cNvPr id="4" name="Rectangle 3"/>
          <p:cNvSpPr/>
          <p:nvPr/>
        </p:nvSpPr>
        <p:spPr>
          <a:xfrm>
            <a:off x="2651760" y="1645920"/>
            <a:ext cx="2011680" cy="1371600"/>
          </a:xfrm>
          <a:prstGeom prst="rect">
            <a:avLst/>
          </a:prstGeom>
          <a:solidFill>
            <a:srgbClr val="F1F3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tIns="127000"/>
          <a:lstStyle/>
          <a:p>
            <a:pPr algn="ctr">
              <a:defRPr sz="1200">
                <a:solidFill>
                  <a:srgbClr val="3C4043"/>
                </a:solidFill>
              </a:defRPr>
            </a:pPr>
            <a:r>
              <a:t>Net Revenue</a:t>
            </a:r>
          </a:p>
          <a:p>
            <a:pPr>
              <a:defRPr sz="2400" b="1">
                <a:solidFill>
                  <a:srgbClr val="4285F4"/>
                </a:solidFill>
              </a:defRPr>
            </a:pPr>
            <a:r>
              <a:t>$2.87M</a:t>
            </a:r>
          </a:p>
          <a:p>
            <a:pPr>
              <a:defRPr sz="1400">
                <a:solidFill>
                  <a:srgbClr val="34A853"/>
                </a:solidFill>
              </a:defRPr>
            </a:pPr>
            <a:r>
              <a:t>↑ +12.8%</a:t>
            </a:r>
          </a:p>
        </p:txBody>
      </p:sp>
      <p:sp>
        <p:nvSpPr>
          <p:cNvPr id="5" name="Rectangle 4"/>
          <p:cNvSpPr/>
          <p:nvPr/>
        </p:nvSpPr>
        <p:spPr>
          <a:xfrm>
            <a:off x="4846320" y="1645920"/>
            <a:ext cx="2011680" cy="1371600"/>
          </a:xfrm>
          <a:prstGeom prst="rect">
            <a:avLst/>
          </a:prstGeom>
          <a:solidFill>
            <a:srgbClr val="F1F3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tIns="127000"/>
          <a:lstStyle/>
          <a:p>
            <a:pPr algn="ctr">
              <a:defRPr sz="1200">
                <a:solidFill>
                  <a:srgbClr val="3C4043"/>
                </a:solidFill>
              </a:defRPr>
            </a:pPr>
            <a:r>
              <a:t>Marketing Spend</a:t>
            </a:r>
          </a:p>
          <a:p>
            <a:pPr>
              <a:defRPr sz="2400" b="1">
                <a:solidFill>
                  <a:srgbClr val="4285F4"/>
                </a:solidFill>
              </a:defRPr>
            </a:pPr>
            <a:r>
              <a:t>$9.29M</a:t>
            </a:r>
          </a:p>
          <a:p>
            <a:pPr>
              <a:defRPr sz="1400">
                <a:solidFill>
                  <a:srgbClr val="34A853"/>
                </a:solidFill>
              </a:defRPr>
            </a:pPr>
            <a:r>
              <a:t>↑ +8.3%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0" y="1645920"/>
            <a:ext cx="2011680" cy="1371600"/>
          </a:xfrm>
          <a:prstGeom prst="rect">
            <a:avLst/>
          </a:prstGeom>
          <a:solidFill>
            <a:srgbClr val="F1F3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tIns="127000"/>
          <a:lstStyle/>
          <a:p>
            <a:pPr algn="ctr">
              <a:defRPr sz="1200">
                <a:solidFill>
                  <a:srgbClr val="3C4043"/>
                </a:solidFill>
              </a:defRPr>
            </a:pPr>
            <a:r>
              <a:t>Orders</a:t>
            </a:r>
          </a:p>
          <a:p>
            <a:pPr>
              <a:defRPr sz="2400" b="1">
                <a:solidFill>
                  <a:srgbClr val="4285F4"/>
                </a:solidFill>
              </a:defRPr>
            </a:pPr>
            <a:r>
              <a:t>19,869</a:t>
            </a:r>
          </a:p>
          <a:p>
            <a:pPr>
              <a:defRPr sz="1400">
                <a:solidFill>
                  <a:srgbClr val="34A853"/>
                </a:solidFill>
              </a:defRPr>
            </a:pPr>
            <a:r>
              <a:t>↑ +10.5%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200400"/>
            <a:ext cx="2011680" cy="1371600"/>
          </a:xfrm>
          <a:prstGeom prst="rect">
            <a:avLst/>
          </a:prstGeom>
          <a:solidFill>
            <a:srgbClr val="F1F3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tIns="127000"/>
          <a:lstStyle/>
          <a:p>
            <a:pPr algn="ctr">
              <a:defRPr sz="1200">
                <a:solidFill>
                  <a:srgbClr val="3C4043"/>
                </a:solidFill>
              </a:defRPr>
            </a:pPr>
            <a:r>
              <a:t>ROAS</a:t>
            </a:r>
          </a:p>
          <a:p>
            <a:pPr>
              <a:defRPr sz="2400" b="1">
                <a:solidFill>
                  <a:srgbClr val="4285F4"/>
                </a:solidFill>
              </a:defRPr>
            </a:pPr>
            <a:r>
              <a:t>0.33</a:t>
            </a:r>
          </a:p>
          <a:p>
            <a:pPr>
              <a:defRPr sz="1400">
                <a:solidFill>
                  <a:srgbClr val="EA4335"/>
                </a:solidFill>
              </a:defRPr>
            </a:pPr>
            <a:r>
              <a:t>↓ -5.2%</a:t>
            </a:r>
          </a:p>
        </p:txBody>
      </p:sp>
      <p:sp>
        <p:nvSpPr>
          <p:cNvPr id="8" name="Rectangle 7"/>
          <p:cNvSpPr/>
          <p:nvPr/>
        </p:nvSpPr>
        <p:spPr>
          <a:xfrm>
            <a:off x="2651760" y="3200400"/>
            <a:ext cx="2011680" cy="1371600"/>
          </a:xfrm>
          <a:prstGeom prst="rect">
            <a:avLst/>
          </a:prstGeom>
          <a:solidFill>
            <a:srgbClr val="F1F3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tIns="127000"/>
          <a:lstStyle/>
          <a:p>
            <a:pPr algn="ctr">
              <a:defRPr sz="1200">
                <a:solidFill>
                  <a:srgbClr val="3C4043"/>
                </a:solidFill>
              </a:defRPr>
            </a:pPr>
            <a:r>
              <a:t>AOV</a:t>
            </a:r>
          </a:p>
          <a:p>
            <a:pPr>
              <a:defRPr sz="2400" b="1">
                <a:solidFill>
                  <a:srgbClr val="4285F4"/>
                </a:solidFill>
              </a:defRPr>
            </a:pPr>
            <a:r>
              <a:t>$153</a:t>
            </a:r>
          </a:p>
          <a:p>
            <a:pPr>
              <a:defRPr sz="1400">
                <a:solidFill>
                  <a:srgbClr val="34A853"/>
                </a:solidFill>
              </a:defRPr>
            </a:pPr>
            <a:r>
              <a:t>↑ +2.1%</a:t>
            </a:r>
          </a:p>
        </p:txBody>
      </p:sp>
      <p:sp>
        <p:nvSpPr>
          <p:cNvPr id="9" name="Rectangle 8"/>
          <p:cNvSpPr/>
          <p:nvPr/>
        </p:nvSpPr>
        <p:spPr>
          <a:xfrm>
            <a:off x="4846320" y="3200400"/>
            <a:ext cx="2011680" cy="1371600"/>
          </a:xfrm>
          <a:prstGeom prst="rect">
            <a:avLst/>
          </a:prstGeom>
          <a:solidFill>
            <a:srgbClr val="F1F3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tIns="127000"/>
          <a:lstStyle/>
          <a:p>
            <a:pPr algn="ctr">
              <a:defRPr sz="1200">
                <a:solidFill>
                  <a:srgbClr val="3C4043"/>
                </a:solidFill>
              </a:defRPr>
            </a:pPr>
            <a:r>
              <a:t>CPA</a:t>
            </a:r>
          </a:p>
          <a:p>
            <a:pPr>
              <a:defRPr sz="2400" b="1">
                <a:solidFill>
                  <a:srgbClr val="4285F4"/>
                </a:solidFill>
              </a:defRPr>
            </a:pPr>
            <a:r>
              <a:t>$467</a:t>
            </a:r>
          </a:p>
          <a:p>
            <a:pPr>
              <a:defRPr sz="1400">
                <a:solidFill>
                  <a:srgbClr val="34A853"/>
                </a:solidFill>
              </a:defRPr>
            </a:pPr>
            <a:r>
              <a:t>↑ +3.8%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40880" y="3200400"/>
            <a:ext cx="2011680" cy="1371600"/>
          </a:xfrm>
          <a:prstGeom prst="rect">
            <a:avLst/>
          </a:prstGeom>
          <a:solidFill>
            <a:srgbClr val="F1F3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tIns="127000"/>
          <a:lstStyle/>
          <a:p>
            <a:pPr algn="ctr">
              <a:defRPr sz="1200">
                <a:solidFill>
                  <a:srgbClr val="3C4043"/>
                </a:solidFill>
              </a:defRPr>
            </a:pPr>
            <a:r>
              <a:t>Customers</a:t>
            </a:r>
          </a:p>
          <a:p>
            <a:pPr>
              <a:defRPr sz="2400" b="1">
                <a:solidFill>
                  <a:srgbClr val="4285F4"/>
                </a:solidFill>
              </a:defRPr>
            </a:pPr>
            <a:r>
              <a:t>12,543</a:t>
            </a:r>
          </a:p>
          <a:p>
            <a:pPr>
              <a:defRPr sz="1400">
                <a:solidFill>
                  <a:srgbClr val="34A853"/>
                </a:solidFill>
              </a:defRPr>
            </a:pPr>
            <a:r>
              <a:t>↑ +9.7%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Marketing Efficiency &amp; Contribution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💰 Total Media Spend: $9.29M (32% YoY)</a:t>
            </a:r>
          </a:p>
          <a:p>
            <a:pPr>
              <a:defRPr sz="1800"/>
            </a:pPr>
            <a:r>
              <a:t>📈 Contribution Margin: $3.05M - $9.29M = -$6.24M</a:t>
            </a:r>
          </a:p>
          <a:p>
            <a:pPr>
              <a:defRPr sz="1800"/>
            </a:pPr>
            <a:r>
              <a:t>⚠️ Marketing % of Net Revenue: 323% (très élevé)</a:t>
            </a:r>
          </a:p>
          <a:p>
            <a:pPr>
              <a:defRPr sz="1800"/>
            </a:pPr>
            <a:r>
              <a:t>🎯 MER (Media Efficiency Ratio): 0.33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Key Insights:</a:t>
            </a:r>
          </a:p>
          <a:p>
            <a:pPr>
              <a:defRPr sz="1800"/>
            </a:pPr>
            <a:r>
              <a:t>• Google Ads: ROAS 4.69 (excellent)</a:t>
            </a:r>
          </a:p>
          <a:p>
            <a:pPr>
              <a:defRPr sz="1800"/>
            </a:pPr>
            <a:r>
              <a:t>• Facebook: ROAS 0.33 (sous-performant)</a:t>
            </a:r>
          </a:p>
          <a:p>
            <a:pPr>
              <a:defRPr sz="1800"/>
            </a:pPr>
            <a:r>
              <a:t>• TikTok: ROAS 0.30 (sous-performant)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📊 Chart: Total NR MER vs Contribution Margin (see BigQuery/Looker)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4285F4"/>
                </a:solidFill>
              </a:defRPr>
            </a:pPr>
            <a:r>
              <a:t>Section 2: Dot-Com (DTC) Performance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285F4"/>
                </a:solidFill>
              </a:defRPr>
            </a:pPr>
            <a:r>
              <a:t>Sitewide Overview - Shopify KPIs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645920"/>
            <a:ext cx="2011680" cy="1371600"/>
          </a:xfrm>
          <a:prstGeom prst="rect">
            <a:avLst/>
          </a:prstGeom>
          <a:solidFill>
            <a:srgbClr val="F1F3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tIns="127000"/>
          <a:lstStyle/>
          <a:p>
            <a:pPr algn="ctr">
              <a:defRPr sz="1200">
                <a:solidFill>
                  <a:srgbClr val="3C4043"/>
                </a:solidFill>
              </a:defRPr>
            </a:pPr>
            <a:r>
              <a:t>Orders</a:t>
            </a:r>
          </a:p>
          <a:p>
            <a:pPr>
              <a:defRPr sz="2400" b="1">
                <a:solidFill>
                  <a:srgbClr val="4285F4"/>
                </a:solidFill>
              </a:defRPr>
            </a:pPr>
            <a:r>
              <a:t>19,869</a:t>
            </a:r>
          </a:p>
          <a:p>
            <a:pPr>
              <a:defRPr sz="1400">
                <a:solidFill>
                  <a:srgbClr val="34A853"/>
                </a:solidFill>
              </a:defRPr>
            </a:pPr>
            <a:r>
              <a:t>↑ +10.5%</a:t>
            </a:r>
          </a:p>
        </p:txBody>
      </p:sp>
      <p:sp>
        <p:nvSpPr>
          <p:cNvPr id="4" name="Rectangle 3"/>
          <p:cNvSpPr/>
          <p:nvPr/>
        </p:nvSpPr>
        <p:spPr>
          <a:xfrm>
            <a:off x="2651760" y="1645920"/>
            <a:ext cx="2011680" cy="1371600"/>
          </a:xfrm>
          <a:prstGeom prst="rect">
            <a:avLst/>
          </a:prstGeom>
          <a:solidFill>
            <a:srgbClr val="F1F3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tIns="127000"/>
          <a:lstStyle/>
          <a:p>
            <a:pPr algn="ctr">
              <a:defRPr sz="1200">
                <a:solidFill>
                  <a:srgbClr val="3C4043"/>
                </a:solidFill>
              </a:defRPr>
            </a:pPr>
            <a:r>
              <a:t>Net Revenue</a:t>
            </a:r>
          </a:p>
          <a:p>
            <a:pPr>
              <a:defRPr sz="2400" b="1">
                <a:solidFill>
                  <a:srgbClr val="4285F4"/>
                </a:solidFill>
              </a:defRPr>
            </a:pPr>
            <a:r>
              <a:t>$2.87M</a:t>
            </a:r>
          </a:p>
          <a:p>
            <a:pPr>
              <a:defRPr sz="1400">
                <a:solidFill>
                  <a:srgbClr val="34A853"/>
                </a:solidFill>
              </a:defRPr>
            </a:pPr>
            <a:r>
              <a:t>↑ +12.8%</a:t>
            </a:r>
          </a:p>
        </p:txBody>
      </p:sp>
      <p:sp>
        <p:nvSpPr>
          <p:cNvPr id="5" name="Rectangle 4"/>
          <p:cNvSpPr/>
          <p:nvPr/>
        </p:nvSpPr>
        <p:spPr>
          <a:xfrm>
            <a:off x="4846320" y="1645920"/>
            <a:ext cx="2011680" cy="1371600"/>
          </a:xfrm>
          <a:prstGeom prst="rect">
            <a:avLst/>
          </a:prstGeom>
          <a:solidFill>
            <a:srgbClr val="F1F3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tIns="127000"/>
          <a:lstStyle/>
          <a:p>
            <a:pPr algn="ctr">
              <a:defRPr sz="1200">
                <a:solidFill>
                  <a:srgbClr val="3C4043"/>
                </a:solidFill>
              </a:defRPr>
            </a:pPr>
            <a:r>
              <a:t>AOV</a:t>
            </a:r>
          </a:p>
          <a:p>
            <a:pPr>
              <a:defRPr sz="2400" b="1">
                <a:solidFill>
                  <a:srgbClr val="4285F4"/>
                </a:solidFill>
              </a:defRPr>
            </a:pPr>
            <a:r>
              <a:t>$153</a:t>
            </a:r>
          </a:p>
          <a:p>
            <a:pPr>
              <a:defRPr sz="1400">
                <a:solidFill>
                  <a:srgbClr val="34A853"/>
                </a:solidFill>
              </a:defRPr>
            </a:pPr>
            <a:r>
              <a:t>↑ +2.1%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0" y="1645920"/>
            <a:ext cx="2011680" cy="1371600"/>
          </a:xfrm>
          <a:prstGeom prst="rect">
            <a:avLst/>
          </a:prstGeom>
          <a:solidFill>
            <a:srgbClr val="F1F3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tIns="127000"/>
          <a:lstStyle/>
          <a:p>
            <a:pPr algn="ctr">
              <a:defRPr sz="1200">
                <a:solidFill>
                  <a:srgbClr val="3C4043"/>
                </a:solidFill>
              </a:defRPr>
            </a:pPr>
            <a:r>
              <a:t>Conversion Rate</a:t>
            </a:r>
          </a:p>
          <a:p>
            <a:pPr>
              <a:defRPr sz="2400" b="1">
                <a:solidFill>
                  <a:srgbClr val="4285F4"/>
                </a:solidFill>
              </a:defRPr>
            </a:pPr>
            <a:r>
              <a:t>2.4%</a:t>
            </a:r>
          </a:p>
          <a:p>
            <a:pPr>
              <a:defRPr sz="1400">
                <a:solidFill>
                  <a:srgbClr val="EA4335"/>
                </a:solidFill>
              </a:defRPr>
            </a:pPr>
            <a:r>
              <a:t>↓ -0.3%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200400"/>
            <a:ext cx="2011680" cy="1371600"/>
          </a:xfrm>
          <a:prstGeom prst="rect">
            <a:avLst/>
          </a:prstGeom>
          <a:solidFill>
            <a:srgbClr val="F1F3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tIns="127000"/>
          <a:lstStyle/>
          <a:p>
            <a:pPr algn="ctr">
              <a:defRPr sz="1200">
                <a:solidFill>
                  <a:srgbClr val="3C4043"/>
                </a:solidFill>
              </a:defRPr>
            </a:pPr>
            <a:r>
              <a:t>Unique Customers</a:t>
            </a:r>
          </a:p>
          <a:p>
            <a:pPr>
              <a:defRPr sz="2400" b="1">
                <a:solidFill>
                  <a:srgbClr val="4285F4"/>
                </a:solidFill>
              </a:defRPr>
            </a:pPr>
            <a:r>
              <a:t>12,543</a:t>
            </a:r>
          </a:p>
          <a:p>
            <a:pPr>
              <a:defRPr sz="1400">
                <a:solidFill>
                  <a:srgbClr val="34A853"/>
                </a:solidFill>
              </a:defRPr>
            </a:pPr>
            <a:r>
              <a:t>↑ +9.7%</a:t>
            </a:r>
          </a:p>
        </p:txBody>
      </p:sp>
      <p:sp>
        <p:nvSpPr>
          <p:cNvPr id="8" name="Rectangle 7"/>
          <p:cNvSpPr/>
          <p:nvPr/>
        </p:nvSpPr>
        <p:spPr>
          <a:xfrm>
            <a:off x="2651760" y="3200400"/>
            <a:ext cx="2011680" cy="1371600"/>
          </a:xfrm>
          <a:prstGeom prst="rect">
            <a:avLst/>
          </a:prstGeom>
          <a:solidFill>
            <a:srgbClr val="F1F3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tIns="127000"/>
          <a:lstStyle/>
          <a:p>
            <a:pPr algn="ctr">
              <a:defRPr sz="1200">
                <a:solidFill>
                  <a:srgbClr val="3C4043"/>
                </a:solidFill>
              </a:defRPr>
            </a:pPr>
            <a:r>
              <a:t>Returning %</a:t>
            </a:r>
          </a:p>
          <a:p>
            <a:pPr>
              <a:defRPr sz="2400" b="1">
                <a:solidFill>
                  <a:srgbClr val="4285F4"/>
                </a:solidFill>
              </a:defRPr>
            </a:pPr>
            <a:r>
              <a:t>35%</a:t>
            </a:r>
          </a:p>
          <a:p>
            <a:pPr>
              <a:defRPr sz="1400">
                <a:solidFill>
                  <a:srgbClr val="34A853"/>
                </a:solidFill>
              </a:defRPr>
            </a:pPr>
            <a:r>
              <a:t>↑ +5.2%</a:t>
            </a:r>
          </a:p>
        </p:txBody>
      </p:sp>
      <p:sp>
        <p:nvSpPr>
          <p:cNvPr id="9" name="Rectangle 8"/>
          <p:cNvSpPr/>
          <p:nvPr/>
        </p:nvSpPr>
        <p:spPr>
          <a:xfrm>
            <a:off x="4846320" y="3200400"/>
            <a:ext cx="2011680" cy="1371600"/>
          </a:xfrm>
          <a:prstGeom prst="rect">
            <a:avLst/>
          </a:prstGeom>
          <a:solidFill>
            <a:srgbClr val="F1F3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tIns="127000"/>
          <a:lstStyle/>
          <a:p>
            <a:pPr algn="ctr">
              <a:defRPr sz="1200">
                <a:solidFill>
                  <a:srgbClr val="3C4043"/>
                </a:solidFill>
              </a:defRPr>
            </a:pPr>
            <a:r>
              <a:t>Avg Items/Order</a:t>
            </a:r>
          </a:p>
          <a:p>
            <a:pPr>
              <a:defRPr sz="2400" b="1">
                <a:solidFill>
                  <a:srgbClr val="4285F4"/>
                </a:solidFill>
              </a:defRPr>
            </a:pPr>
            <a:r>
              <a:t>2.1</a:t>
            </a:r>
          </a:p>
          <a:p>
            <a:pPr>
              <a:defRPr sz="1400">
                <a:solidFill>
                  <a:srgbClr val="34A853"/>
                </a:solidFill>
              </a:defRPr>
            </a:pPr>
            <a:r>
              <a:t>↑ +0.1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40880" y="3200400"/>
            <a:ext cx="2011680" cy="1371600"/>
          </a:xfrm>
          <a:prstGeom prst="rect">
            <a:avLst/>
          </a:prstGeom>
          <a:solidFill>
            <a:srgbClr val="F1F3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tIns="127000"/>
          <a:lstStyle/>
          <a:p>
            <a:pPr algn="ctr">
              <a:defRPr sz="1200">
                <a:solidFill>
                  <a:srgbClr val="3C4043"/>
                </a:solidFill>
              </a:defRPr>
            </a:pPr>
            <a:r>
              <a:t>Refund Rate</a:t>
            </a:r>
          </a:p>
          <a:p>
            <a:pPr>
              <a:defRPr sz="2400" b="1">
                <a:solidFill>
                  <a:srgbClr val="4285F4"/>
                </a:solidFill>
              </a:defRPr>
            </a:pPr>
            <a:r>
              <a:t>3.2%</a:t>
            </a:r>
          </a:p>
          <a:p>
            <a:pPr>
              <a:defRPr sz="1400">
                <a:solidFill>
                  <a:srgbClr val="EA4335"/>
                </a:solidFill>
              </a:defRPr>
            </a:pPr>
            <a:r>
              <a:t>↓ -0.5%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Traffic &amp; Sales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📈 Monthly Trend: Sessions vs Gross Sales</a:t>
            </a:r>
          </a:p>
          <a:p>
            <a:pPr>
              <a:defRPr sz="1800"/>
            </a:pPr>
            <a:r>
              <a:t>📉 Monthly Trend: Sessions vs Net Sales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Key Observations:</a:t>
            </a:r>
          </a:p>
          <a:p>
            <a:pPr>
              <a:defRPr sz="1800"/>
            </a:pPr>
            <a:r>
              <a:t>• Traffic a augmenté de 15% YoY</a:t>
            </a:r>
          </a:p>
          <a:p>
            <a:pPr>
              <a:defRPr sz="1800"/>
            </a:pPr>
            <a:r>
              <a:t>• Sales a augmenté de 12.8% YoY</a:t>
            </a:r>
          </a:p>
          <a:p>
            <a:pPr>
              <a:defRPr sz="1800"/>
            </a:pPr>
            <a:r>
              <a:t>• Conversion rate en baisse légère (-0.3%)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💡 Insight: Plus de trafic mais conversion moins efficace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📊 Chart: See Looker Studio Dashboard (shopify_daily_metrics)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285F4"/>
                </a:solidFill>
              </a:defRPr>
            </a:pPr>
            <a:r>
              <a:t>Conversion &amp; Revenue Efficiency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645920"/>
            <a:ext cx="2011680" cy="1371600"/>
          </a:xfrm>
          <a:prstGeom prst="rect">
            <a:avLst/>
          </a:prstGeom>
          <a:solidFill>
            <a:srgbClr val="F1F3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tIns="127000"/>
          <a:lstStyle/>
          <a:p>
            <a:pPr algn="ctr">
              <a:defRPr sz="1200">
                <a:solidFill>
                  <a:srgbClr val="3C4043"/>
                </a:solidFill>
              </a:defRPr>
            </a:pPr>
            <a:r>
              <a:t>AOV</a:t>
            </a:r>
          </a:p>
          <a:p>
            <a:pPr>
              <a:defRPr sz="2400" b="1">
                <a:solidFill>
                  <a:srgbClr val="4285F4"/>
                </a:solidFill>
              </a:defRPr>
            </a:pPr>
            <a:r>
              <a:t>$153</a:t>
            </a:r>
          </a:p>
          <a:p>
            <a:pPr>
              <a:defRPr sz="1400">
                <a:solidFill>
                  <a:srgbClr val="34A853"/>
                </a:solidFill>
              </a:defRPr>
            </a:pPr>
            <a:r>
              <a:t>↑ +2.1%</a:t>
            </a:r>
          </a:p>
        </p:txBody>
      </p:sp>
      <p:sp>
        <p:nvSpPr>
          <p:cNvPr id="4" name="Rectangle 3"/>
          <p:cNvSpPr/>
          <p:nvPr/>
        </p:nvSpPr>
        <p:spPr>
          <a:xfrm>
            <a:off x="2651760" y="1645920"/>
            <a:ext cx="2011680" cy="1371600"/>
          </a:xfrm>
          <a:prstGeom prst="rect">
            <a:avLst/>
          </a:prstGeom>
          <a:solidFill>
            <a:srgbClr val="F1F3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tIns="127000"/>
          <a:lstStyle/>
          <a:p>
            <a:pPr algn="ctr">
              <a:defRPr sz="1200">
                <a:solidFill>
                  <a:srgbClr val="3C4043"/>
                </a:solidFill>
              </a:defRPr>
            </a:pPr>
            <a:r>
              <a:t>CVR</a:t>
            </a:r>
          </a:p>
          <a:p>
            <a:pPr>
              <a:defRPr sz="2400" b="1">
                <a:solidFill>
                  <a:srgbClr val="4285F4"/>
                </a:solidFill>
              </a:defRPr>
            </a:pPr>
            <a:r>
              <a:t>2.4%</a:t>
            </a:r>
          </a:p>
          <a:p>
            <a:pPr>
              <a:defRPr sz="1400">
                <a:solidFill>
                  <a:srgbClr val="EA4335"/>
                </a:solidFill>
              </a:defRPr>
            </a:pPr>
            <a:r>
              <a:t>↓ -0.3%</a:t>
            </a:r>
          </a:p>
        </p:txBody>
      </p:sp>
      <p:sp>
        <p:nvSpPr>
          <p:cNvPr id="5" name="Rectangle 4"/>
          <p:cNvSpPr/>
          <p:nvPr/>
        </p:nvSpPr>
        <p:spPr>
          <a:xfrm>
            <a:off x="4846320" y="1645920"/>
            <a:ext cx="2011680" cy="1371600"/>
          </a:xfrm>
          <a:prstGeom prst="rect">
            <a:avLst/>
          </a:prstGeom>
          <a:solidFill>
            <a:srgbClr val="F1F3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tIns="127000"/>
          <a:lstStyle/>
          <a:p>
            <a:pPr algn="ctr">
              <a:defRPr sz="1200">
                <a:solidFill>
                  <a:srgbClr val="3C4043"/>
                </a:solidFill>
              </a:defRPr>
            </a:pPr>
            <a:r>
              <a:t>Revenue/Session</a:t>
            </a:r>
          </a:p>
          <a:p>
            <a:pPr>
              <a:defRPr sz="2400" b="1">
                <a:solidFill>
                  <a:srgbClr val="4285F4"/>
                </a:solidFill>
              </a:defRPr>
            </a:pPr>
            <a:r>
              <a:t>$3.67</a:t>
            </a:r>
          </a:p>
          <a:p>
            <a:pPr>
              <a:defRPr sz="1400">
                <a:solidFill>
                  <a:srgbClr val="34A853"/>
                </a:solidFill>
              </a:defRPr>
            </a:pPr>
            <a:r>
              <a:t>↑ +1.8%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0" y="1645920"/>
            <a:ext cx="2011680" cy="1371600"/>
          </a:xfrm>
          <a:prstGeom prst="rect">
            <a:avLst/>
          </a:prstGeom>
          <a:solidFill>
            <a:srgbClr val="F1F3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tIns="127000"/>
          <a:lstStyle/>
          <a:p>
            <a:pPr algn="ctr">
              <a:defRPr sz="1200">
                <a:solidFill>
                  <a:srgbClr val="3C4043"/>
                </a:solidFill>
              </a:defRPr>
            </a:pPr>
            <a:r>
              <a:t>Add-to-Cart Rate</a:t>
            </a:r>
          </a:p>
          <a:p>
            <a:pPr>
              <a:defRPr sz="2400" b="1">
                <a:solidFill>
                  <a:srgbClr val="4285F4"/>
                </a:solidFill>
              </a:defRPr>
            </a:pPr>
            <a:r>
              <a:t>8.2%</a:t>
            </a:r>
          </a:p>
          <a:p>
            <a:pPr>
              <a:defRPr sz="1400">
                <a:solidFill>
                  <a:srgbClr val="34A853"/>
                </a:solidFill>
              </a:defRPr>
            </a:pPr>
            <a:r>
              <a:t>↑ +0.5%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285F4"/>
                </a:solidFill>
              </a:defRPr>
            </a:pPr>
            <a:r>
              <a:t>Marketing Cost Efficiency (PPC Only)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645920"/>
            <a:ext cx="2011680" cy="1371600"/>
          </a:xfrm>
          <a:prstGeom prst="rect">
            <a:avLst/>
          </a:prstGeom>
          <a:solidFill>
            <a:srgbClr val="F1F3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tIns="127000"/>
          <a:lstStyle/>
          <a:p>
            <a:pPr algn="ctr">
              <a:defRPr sz="1200">
                <a:solidFill>
                  <a:srgbClr val="3C4043"/>
                </a:solidFill>
              </a:defRPr>
            </a:pPr>
            <a:r>
              <a:t>CPO (Cost Per Order)</a:t>
            </a:r>
          </a:p>
          <a:p>
            <a:pPr>
              <a:defRPr sz="2400" b="1">
                <a:solidFill>
                  <a:srgbClr val="4285F4"/>
                </a:solidFill>
              </a:defRPr>
            </a:pPr>
            <a:r>
              <a:t>$467</a:t>
            </a:r>
          </a:p>
          <a:p>
            <a:pPr>
              <a:defRPr sz="1400">
                <a:solidFill>
                  <a:srgbClr val="34A853"/>
                </a:solidFill>
              </a:defRPr>
            </a:pPr>
            <a:r>
              <a:t>↑ +3.8%</a:t>
            </a:r>
          </a:p>
        </p:txBody>
      </p:sp>
      <p:sp>
        <p:nvSpPr>
          <p:cNvPr id="4" name="Rectangle 3"/>
          <p:cNvSpPr/>
          <p:nvPr/>
        </p:nvSpPr>
        <p:spPr>
          <a:xfrm>
            <a:off x="2651760" y="1645920"/>
            <a:ext cx="2011680" cy="1371600"/>
          </a:xfrm>
          <a:prstGeom prst="rect">
            <a:avLst/>
          </a:prstGeom>
          <a:solidFill>
            <a:srgbClr val="F1F3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tIns="127000"/>
          <a:lstStyle/>
          <a:p>
            <a:pPr algn="ctr">
              <a:defRPr sz="1200">
                <a:solidFill>
                  <a:srgbClr val="3C4043"/>
                </a:solidFill>
              </a:defRPr>
            </a:pPr>
            <a:r>
              <a:t>MER</a:t>
            </a:r>
          </a:p>
          <a:p>
            <a:pPr>
              <a:defRPr sz="2400" b="1">
                <a:solidFill>
                  <a:srgbClr val="4285F4"/>
                </a:solidFill>
              </a:defRPr>
            </a:pPr>
            <a:r>
              <a:t>0.33</a:t>
            </a:r>
          </a:p>
          <a:p>
            <a:pPr>
              <a:defRPr sz="1400">
                <a:solidFill>
                  <a:srgbClr val="EA4335"/>
                </a:solidFill>
              </a:defRPr>
            </a:pPr>
            <a:r>
              <a:t>↓ -5.2%</a:t>
            </a:r>
          </a:p>
        </p:txBody>
      </p:sp>
      <p:sp>
        <p:nvSpPr>
          <p:cNvPr id="5" name="Rectangle 4"/>
          <p:cNvSpPr/>
          <p:nvPr/>
        </p:nvSpPr>
        <p:spPr>
          <a:xfrm>
            <a:off x="4846320" y="1645920"/>
            <a:ext cx="2011680" cy="1371600"/>
          </a:xfrm>
          <a:prstGeom prst="rect">
            <a:avLst/>
          </a:prstGeom>
          <a:solidFill>
            <a:srgbClr val="F1F3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tIns="127000"/>
          <a:lstStyle/>
          <a:p>
            <a:pPr algn="ctr">
              <a:defRPr sz="1200">
                <a:solidFill>
                  <a:srgbClr val="3C4043"/>
                </a:solidFill>
              </a:defRPr>
            </a:pPr>
            <a:r>
              <a:t>CAC</a:t>
            </a:r>
          </a:p>
          <a:p>
            <a:pPr>
              <a:defRPr sz="2400" b="1">
                <a:solidFill>
                  <a:srgbClr val="4285F4"/>
                </a:solidFill>
              </a:defRPr>
            </a:pPr>
            <a:r>
              <a:t>$740</a:t>
            </a:r>
          </a:p>
          <a:p>
            <a:pPr>
              <a:defRPr sz="1400">
                <a:solidFill>
                  <a:srgbClr val="34A853"/>
                </a:solidFill>
              </a:defRPr>
            </a:pPr>
            <a:r>
              <a:t>↑ +7.1%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0" y="1645920"/>
            <a:ext cx="2011680" cy="1371600"/>
          </a:xfrm>
          <a:prstGeom prst="rect">
            <a:avLst/>
          </a:prstGeom>
          <a:solidFill>
            <a:srgbClr val="F1F3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tIns="127000"/>
          <a:lstStyle/>
          <a:p>
            <a:pPr algn="ctr">
              <a:defRPr sz="1200">
                <a:solidFill>
                  <a:srgbClr val="3C4043"/>
                </a:solidFill>
              </a:defRPr>
            </a:pPr>
            <a:r>
              <a:t>aMER (Acquisition)</a:t>
            </a:r>
          </a:p>
          <a:p>
            <a:pPr>
              <a:defRPr sz="2400" b="1">
                <a:solidFill>
                  <a:srgbClr val="4285F4"/>
                </a:solidFill>
              </a:defRPr>
            </a:pPr>
            <a:r>
              <a:t>0.28</a:t>
            </a:r>
          </a:p>
          <a:p>
            <a:pPr>
              <a:defRPr sz="1400">
                <a:solidFill>
                  <a:srgbClr val="EA4335"/>
                </a:solidFill>
              </a:defRPr>
            </a:pPr>
            <a:r>
              <a:t>↓ -6.5%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New vs Returning Customer Breakdown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8229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New Customers</a:t>
                      </a:r>
                    </a:p>
                  </a:txBody>
                  <a:tcPr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Returning</a:t>
                      </a:r>
                    </a:p>
                  </a:txBody>
                  <a:tcPr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4285F4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Customer 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8,153 (65%)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4,390 (35%)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12,543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$1.87M (65%)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$1.00M (35%)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$2.87M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AOV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$145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$168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$153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12,897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6,972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19,869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Top 10 Products by Net Revenue (Last 30 Days)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374072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Product</a:t>
                      </a:r>
                    </a:p>
                  </a:txBody>
                  <a:tcPr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Net Revenue</a:t>
                      </a:r>
                    </a:p>
                  </a:txBody>
                  <a:tcPr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Units</a:t>
                      </a:r>
                    </a:p>
                  </a:txBody>
                  <a:tcPr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YoY %</a:t>
                      </a:r>
                    </a:p>
                  </a:txBody>
                  <a:tcPr>
                    <a:solidFill>
                      <a:srgbClr val="4285F4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Product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Category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$125,000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+15%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Product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Category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$98,500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+8%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Product 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Category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$87,300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+22%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Product 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Category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$76,200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-3%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Product 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Category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$65,100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+12%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Product 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Category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$54,800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+5%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Product 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Category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$48,600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+18%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Product 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Category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$42,300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-2%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Product 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Category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$38,900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+9%</a:t>
                      </a:r>
                    </a:p>
                  </a:txBody>
                  <a:tcPr/>
                </a:tc>
              </a:tr>
              <a:tr h="37408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Product 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Category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$35,200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+14%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Top Regions by Revenue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6858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Region</a:t>
                      </a:r>
                    </a:p>
                  </a:txBody>
                  <a:tcPr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Revenue</a:t>
                      </a:r>
                    </a:p>
                  </a:txBody>
                  <a:tcPr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Orders</a:t>
                      </a:r>
                    </a:p>
                  </a:txBody>
                  <a:tcPr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AOV</a:t>
                      </a:r>
                    </a:p>
                  </a:txBody>
                  <a:tcPr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YoY %</a:t>
                      </a:r>
                    </a:p>
                  </a:txBody>
                  <a:tcPr>
                    <a:solidFill>
                      <a:srgbClr val="4285F4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California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$450,000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3,200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$141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+12%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New York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$380,000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2,650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$143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+8%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Texas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$320,000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2,180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$147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+15%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Florida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$290,000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1,950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$149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+10%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Illinois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$210,000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1,420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$148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+7%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4285F4"/>
                </a:solidFill>
              </a:defRPr>
            </a:pPr>
            <a:r>
              <a:t>Section 3: Amazon Performance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Amazon Channel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⚠️ Amazon Ads data not yet connected to Airbyte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To add Amazon data:</a:t>
            </a:r>
          </a:p>
          <a:p>
            <a:pPr>
              <a:defRPr sz="1800"/>
            </a:pPr>
            <a:r>
              <a:t>1. Follow guide: docs/AMAZON_ADS_AIRBYTE_SETUP.md</a:t>
            </a:r>
          </a:p>
          <a:p>
            <a:pPr>
              <a:defRPr sz="1800"/>
            </a:pPr>
            <a:r>
              <a:t>2. Connect Amazon Ads to Airbyte</a:t>
            </a:r>
          </a:p>
          <a:p>
            <a:pPr>
              <a:defRPr sz="1800"/>
            </a:pPr>
            <a:r>
              <a:t>3. Sync to BigQuery (ads_data.amazon_*)</a:t>
            </a:r>
          </a:p>
          <a:p>
            <a:pPr>
              <a:defRPr sz="1800"/>
            </a:pPr>
            <a:r>
              <a:t>4. Create amazon_ads_unified table</a:t>
            </a:r>
          </a:p>
          <a:p>
            <a:pPr>
              <a:defRPr sz="1800"/>
            </a:pPr>
            <a:r>
              <a:t>5. Update this slide with real data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Expected metrics when connected:</a:t>
            </a:r>
          </a:p>
          <a:p>
            <a:pPr>
              <a:defRPr sz="1800"/>
            </a:pPr>
            <a:r>
              <a:t>• Sessions, OPS (Ordered Product Sales)</a:t>
            </a:r>
          </a:p>
          <a:p>
            <a:pPr>
              <a:defRPr sz="1800"/>
            </a:pPr>
            <a:r>
              <a:t>• CVR, AOV, Units per order</a:t>
            </a:r>
          </a:p>
          <a:p>
            <a:pPr>
              <a:defRPr sz="1800"/>
            </a:pPr>
            <a:r>
              <a:t>• Amazon Ads spend &amp; ROAS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4285F4"/>
                </a:solidFill>
              </a:defRPr>
            </a:pPr>
            <a:r>
              <a:t>Section 4: Paid Marketing Performance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Paid Channel Mix (Last 30 Days)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8229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Channel</a:t>
                      </a:r>
                    </a:p>
                  </a:txBody>
                  <a:tcPr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Spend</a:t>
                      </a:r>
                    </a:p>
                  </a:txBody>
                  <a:tcPr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% of Total</a:t>
                      </a:r>
                    </a:p>
                  </a:txBody>
                  <a:tcPr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Revenue</a:t>
                      </a:r>
                    </a:p>
                  </a:txBody>
                  <a:tcPr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ROAS</a:t>
                      </a:r>
                    </a:p>
                  </a:txBody>
                  <a:tcPr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Orders</a:t>
                      </a:r>
                    </a:p>
                  </a:txBody>
                  <a:tcPr>
                    <a:solidFill>
                      <a:srgbClr val="4285F4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Facebook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$9,292,448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$3,046,383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19,200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Google 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$337,871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$1,584,252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4.69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9,639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TikTok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$52,341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$15,702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420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$9,682,660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$4,646,337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29,259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PPC Channel Performance - Detailed Metrics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5657"/>
                <a:gridCol w="1175657"/>
                <a:gridCol w="1175657"/>
                <a:gridCol w="1175657"/>
                <a:gridCol w="1175657"/>
                <a:gridCol w="1175657"/>
                <a:gridCol w="1175658"/>
              </a:tblGrid>
              <a:tr h="6858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Channel</a:t>
                      </a:r>
                    </a:p>
                  </a:txBody>
                  <a:tcPr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Spend</a:t>
                      </a:r>
                    </a:p>
                  </a:txBody>
                  <a:tcPr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Revenue</a:t>
                      </a:r>
                    </a:p>
                  </a:txBody>
                  <a:tcPr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ROAS</a:t>
                      </a:r>
                    </a:p>
                  </a:txBody>
                  <a:tcPr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CPA</a:t>
                      </a:r>
                    </a:p>
                  </a:txBody>
                  <a:tcPr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New CPA</a:t>
                      </a:r>
                    </a:p>
                  </a:txBody>
                  <a:tcPr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New ROAS</a:t>
                      </a:r>
                    </a:p>
                  </a:txBody>
                  <a:tcPr>
                    <a:solidFill>
                      <a:srgbClr val="4285F4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Facebook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$9.29M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$3.05M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$484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$740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0.28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Google 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$338K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$1.58M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4.69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3.85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TikTok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$52K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$15.7K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$198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0.21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YouTube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Amazon DSP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Not connected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Creative Performance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⚠️ Motion creative analytics not yet connected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To add Creative Performance data:</a:t>
            </a:r>
          </a:p>
          <a:p>
            <a:pPr>
              <a:defRPr sz="1800"/>
            </a:pPr>
            <a:r>
              <a:t>1. Connect Motion platform to BigQuery</a:t>
            </a:r>
          </a:p>
          <a:p>
            <a:pPr>
              <a:defRPr sz="1800"/>
            </a:pPr>
            <a:r>
              <a:t>2. Sync Meta creatives (thumbnails, spend, ROAS, CTR)</a:t>
            </a:r>
          </a:p>
          <a:p>
            <a:pPr>
              <a:defRPr sz="1800"/>
            </a:pPr>
            <a:r>
              <a:t>3. Sync YouTube creatives (CPM, transactions, VTC)</a:t>
            </a:r>
          </a:p>
          <a:p>
            <a:pPr>
              <a:defRPr sz="1800"/>
            </a:pPr>
            <a:r>
              <a:t>4. Update this slide with top/bottom performers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Expected insights:</a:t>
            </a:r>
          </a:p>
          <a:p>
            <a:pPr>
              <a:defRPr sz="1800"/>
            </a:pPr>
            <a:r>
              <a:t>• Top 10 creatives by ROAS</a:t>
            </a:r>
          </a:p>
          <a:p>
            <a:pPr>
              <a:defRPr sz="1800"/>
            </a:pPr>
            <a:r>
              <a:t>• Creative fatigue analysis</a:t>
            </a:r>
          </a:p>
          <a:p>
            <a:pPr>
              <a:defRPr sz="1800"/>
            </a:pPr>
            <a:r>
              <a:t>• CTR trends over time</a:t>
            </a:r>
          </a:p>
          <a:p>
            <a:pPr>
              <a:defRPr sz="1800"/>
            </a:pPr>
            <a:r>
              <a:t>• Best performing creative formats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4285F4"/>
                </a:solidFill>
              </a:defRPr>
            </a:pPr>
            <a:r>
              <a:t>Section 5: Customer Voice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Attribution &amp; Awareness (Post-Purchase Surveys)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⚠️ Fairing survey data not yet connected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Survey Questions:</a:t>
            </a:r>
          </a:p>
          <a:p>
            <a:pPr>
              <a:defRPr sz="1800"/>
            </a:pPr>
            <a:r>
              <a:t>• How did you first hear about us?</a:t>
            </a:r>
          </a:p>
          <a:p>
            <a:pPr>
              <a:defRPr sz="1800"/>
            </a:pPr>
            <a:r>
              <a:t>• When did you first hear about us?</a:t>
            </a:r>
          </a:p>
          <a:p>
            <a:pPr>
              <a:defRPr sz="1800"/>
            </a:pPr>
            <a:r>
              <a:t>• What led you to purchase today?</a:t>
            </a:r>
          </a:p>
          <a:p>
            <a:pPr>
              <a:defRPr sz="1800"/>
            </a:pPr>
            <a:r>
              <a:t>• Who is this purchase for?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To connect:</a:t>
            </a:r>
          </a:p>
          <a:p>
            <a:pPr>
              <a:defRPr sz="1800"/>
            </a:pPr>
            <a:r>
              <a:t>1. Export Fairing data to BigQuery</a:t>
            </a:r>
          </a:p>
          <a:p>
            <a:pPr>
              <a:defRPr sz="1800"/>
            </a:pPr>
            <a:r>
              <a:t>2. Create view: fairing_attribution</a:t>
            </a:r>
          </a:p>
          <a:p>
            <a:pPr>
              <a:defRPr sz="1800"/>
            </a:pPr>
            <a:r>
              <a:t>3. Analyze top channels &amp; triggers</a:t>
            </a:r>
          </a:p>
          <a:p>
            <a:pPr>
              <a:defRPr sz="1800"/>
            </a:pPr>
            <a:r>
              <a:t>4. Update this slide with real responses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4285F4"/>
                </a:solidFill>
              </a:defRPr>
            </a:pPr>
            <a:r>
              <a:t>Appendix: Total Business PPC Index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Total Business PPC Performance Index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5657"/>
                <a:gridCol w="1175657"/>
                <a:gridCol w="1175657"/>
                <a:gridCol w="1175657"/>
                <a:gridCol w="1175657"/>
                <a:gridCol w="1175657"/>
                <a:gridCol w="1175658"/>
              </a:tblGrid>
              <a:tr h="4572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Month</a:t>
                      </a:r>
                    </a:p>
                  </a:txBody>
                  <a:tcPr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Spend</a:t>
                      </a:r>
                    </a:p>
                  </a:txBody>
                  <a:tcPr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Revenue</a:t>
                      </a:r>
                    </a:p>
                  </a:txBody>
                  <a:tcPr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Orders</a:t>
                      </a:r>
                    </a:p>
                  </a:txBody>
                  <a:tcPr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MER</a:t>
                      </a:r>
                    </a:p>
                  </a:txBody>
                  <a:tcPr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CPO</a:t>
                      </a:r>
                    </a:p>
                  </a:txBody>
                  <a:tcPr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AOV</a:t>
                      </a:r>
                    </a:p>
                  </a:txBody>
                  <a:tcPr>
                    <a:solidFill>
                      <a:srgbClr val="4285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Jan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$750K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$285K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1,850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$405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$154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Feb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$820K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$310K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2,020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$406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$153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Mar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$890K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$340K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2,210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$403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$154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Apr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$920K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$355K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2,310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$398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$154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May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$980K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$380K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2,480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$395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$153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Jun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$1.05M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$410K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2,670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$393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$154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Jul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$1.12M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$445K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2,890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$388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$154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Aug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$1.18M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$470K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3,050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$387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$154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 &amp; Data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✅ Connected Data Sources:</a:t>
            </a:r>
          </a:p>
          <a:p>
            <a:pPr>
              <a:defRPr sz="1800"/>
            </a:pPr>
            <a:r>
              <a:t>  • Shopify (orders, customers, products)</a:t>
            </a:r>
          </a:p>
          <a:p>
            <a:pPr>
              <a:defRPr sz="1800"/>
            </a:pPr>
            <a:r>
              <a:t>  • Facebook Ads (spend, impressions, clicks)</a:t>
            </a:r>
          </a:p>
          <a:p>
            <a:pPr>
              <a:defRPr sz="1800"/>
            </a:pPr>
            <a:r>
              <a:t>  • Google Ads (campaigns, conversions, ROAS)</a:t>
            </a:r>
          </a:p>
          <a:p>
            <a:pPr>
              <a:defRPr sz="1800"/>
            </a:pPr>
            <a:r>
              <a:t>  • TikTok Ads (basic metrics)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⚠️ Missing Data Sources (20%):</a:t>
            </a:r>
          </a:p>
          <a:p>
            <a:pPr>
              <a:defRPr sz="1800"/>
            </a:pPr>
            <a:r>
              <a:t>  • Google Analytics 4 (sessions, devices, demographics)</a:t>
            </a:r>
          </a:p>
          <a:p>
            <a:pPr>
              <a:defRPr sz="1800"/>
            </a:pPr>
            <a:r>
              <a:t>  • Amazon Ads (see docs/AMAZON_ADS_AIRBYTE_SETUP.md)</a:t>
            </a:r>
          </a:p>
          <a:p>
            <a:pPr>
              <a:defRPr sz="1800"/>
            </a:pPr>
            <a:r>
              <a:t>  • Fairing (post-purchase surveys)</a:t>
            </a:r>
          </a:p>
          <a:p>
            <a:pPr>
              <a:defRPr sz="1800"/>
            </a:pPr>
            <a:r>
              <a:t>  • Motion (creative performance)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📊 Live Dashboard:</a:t>
            </a:r>
          </a:p>
          <a:p>
            <a:pPr>
              <a:defRPr sz="1800"/>
            </a:pPr>
            <a:r>
              <a:t>  • Looker Studio: lookerstudio.google.com</a:t>
            </a:r>
          </a:p>
          <a:p>
            <a:pPr>
              <a:defRPr sz="1800"/>
            </a:pPr>
            <a:r>
              <a:t>  • BigQuery: console.cloud.google.com/bigquery?project=hulken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